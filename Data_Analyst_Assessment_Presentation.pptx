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02" y="-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Average Review Score by Delivery Delay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 Score (1–5)</c:v>
                </c:pt>
              </c:strCache>
            </c:strRef>
          </c:tx>
          <c:spPr>
            <a:solidFill>
              <a:srgbClr val="1E2761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AE-42A1-83E3-025C73E28DC1}"/>
              </c:ext>
            </c:extLst>
          </c:dPt>
          <c:dPt>
            <c:idx val="1"/>
            <c:invertIfNegative val="0"/>
            <c:bubble3D val="0"/>
            <c:spPr>
              <a:solidFill>
                <a:srgbClr val="5C7A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AE-42A1-83E3-025C73E28DC1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AE-42A1-83E3-025C73E28DC1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AE-42A1-83E3-025C73E28DC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On-Time</c:v>
                </c:pt>
                <c:pt idx="1">
                  <c:v>1–3 Days Late</c:v>
                </c:pt>
                <c:pt idx="2">
                  <c:v>4–7 Days Late</c:v>
                </c:pt>
                <c:pt idx="3">
                  <c:v>8+ Days Late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3.4</c:v>
                </c:pt>
                <c:pt idx="2">
                  <c:v>2.4</c:v>
                </c:pt>
                <c:pt idx="3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AE-42A1-83E3-025C73E28D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6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16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26307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754880"/>
            <a:ext cx="2377440" cy="2377440"/>
          </a:xfrm>
          <a:prstGeom prst="ellipse">
            <a:avLst/>
          </a:prstGeom>
          <a:solidFill>
            <a:srgbClr val="2630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— MANAGEMENT 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Losing Customers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Late Deliveries?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delivery performance, regional growth, and customer satisfaction — using the Olist e-commerce marketplace dataset (100K+ orders, 2016–2018).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Anshu Kumari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Meerut Institute of Technology  | 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analyzed, and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39" y="193807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 E-Commerce Dataset (Olist)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6112" y="2660904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70432" y="25511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linked tables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28529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items, customers, sellers, products, payments, reviews, geolocation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96112" y="3529584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4198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~99,400 orders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721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~119,000 order-item records, 2016–2018, sourced from Kaggle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6112" y="4398264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70432" y="4288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lifecycle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45902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→ payment → fulfilment → delivery → customer review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53492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satisfies the assessment's “multiple related datasets” requirement and mirrors real B2B transactional data: orders, partners, payments and satisfaction.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150876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5120" y="1810512"/>
            <a:ext cx="566928" cy="566928"/>
          </a:xfrm>
          <a:prstGeom prst="ellipse">
            <a:avLst/>
          </a:prstGeom>
          <a:solidFill>
            <a:srgbClr val="334085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679" y="1938071"/>
            <a:ext cx="311810" cy="31181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406640" y="18105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Approach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67512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in Google Colab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67512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30632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nulls, duplicates &amp; data types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6675120" y="3483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348386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categories (PT → EN)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6675120" y="39044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995160" y="39044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delivery-delay &amp; order-value fields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5120" y="43251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995160" y="4325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6+ tables into one fact table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6675120" y="4745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995160" y="47457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by category, state &amp; month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675120" y="5303520"/>
            <a:ext cx="457200" cy="457200"/>
          </a:xfrm>
          <a:prstGeom prst="ellipse">
            <a:avLst/>
          </a:prstGeom>
          <a:solidFill>
            <a:srgbClr val="334085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990" y="5406390"/>
            <a:ext cx="251460" cy="2514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269480" y="5367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covered: Sept 2016 – Oct 2018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should know,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= Lower Reviews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1620" y="3566160"/>
            <a:ext cx="640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 after the promised date see a sharp drop in average review score.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States = Most Revenue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66260" y="3566160"/>
            <a:ext cx="640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6616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Paulo, Rio de Janeiro &amp; Minas Gerais drive the large majority of order volume.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21031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Categories Lead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200900" y="3566160"/>
            <a:ext cx="640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bath, health &amp; beauty and sports &amp; leisure consistently top revenue rankings.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21031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9720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Instalments Drive Value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10035540" y="3566160"/>
            <a:ext cx="640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23544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orders skew heavily toward multi-instalment credit card payments.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Delivery Delay vs. Review Score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single most important finding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55448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03720" y="1783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expected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057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matters somewhat, but price and product quality would dominate satisfaction.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fall sharply and consistently as delivery delay increases — the strongest single pattern in the dataset.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likely happens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886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breaks the promise made at checkout — customers react to broken expectations, not just wait time.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03720" y="4572000"/>
            <a:ext cx="4480560" cy="128016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0" y="4681728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reliability is the single biggest lever management has over customer satisfaction — more than price or assortment.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business impact and feasibility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 ·  LOW COST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SLA + proactive alerts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shipments trending late and notify the customer before the promised date breaks.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306324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Logistics / Operations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% orders late, review score gap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0345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3440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 ·  LOW COST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Free-shipping bundling threshold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minimum-basket threshold for low-price categories where freight erodes value most.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663440" y="4937760"/>
            <a:ext cx="306324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66344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Merchandising / Pricing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66344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conversion rate, avg. order value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22960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</p:spPr>
      </p:sp>
      <p:sp>
        <p:nvSpPr>
          <p:cNvPr id="23" name="Shape 19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203454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03920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  ·  HIGHER COST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fulfilment pilot</a:t>
            </a:r>
            <a:endParaRPr lang="en-US" sz="1550" dirty="0"/>
          </a:p>
        </p:txBody>
      </p:sp>
      <p:sp>
        <p:nvSpPr>
          <p:cNvPr id="27" name="Text 22"/>
          <p:cNvSpPr txBox="1"/>
          <p:nvPr/>
        </p:nvSpPr>
        <p:spPr>
          <a:xfrm>
            <a:off x="8503920" y="36576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local-seller or fulfilment partnership in 1–2 under-served Northeast states.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503920" y="4937760"/>
            <a:ext cx="306324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50392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Regional Expansion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50392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order growth vs. control states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improve, and how we'll know it worked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Review Score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585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1–2 star reviews as late-delivery rate drops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4930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6530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355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Order Value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7398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lifts avg. basket size on low-price categories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54296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9743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1343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83717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Regional Growth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522122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volume unlocked from under-served states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16916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1965960"/>
            <a:ext cx="548640" cy="548640"/>
          </a:xfrm>
          <a:prstGeom prst="ellipse">
            <a:avLst/>
          </a:prstGeom>
          <a:solidFill>
            <a:srgbClr val="33408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20894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Measure Success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675120" y="2788920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949440" y="267004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delivered late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9626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steady month-on-month decline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675120" y="3566160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949440" y="344728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(delayed vs. on-time)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6949440" y="373989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narrow the current gap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675120" y="4343400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949440" y="422452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&amp; avg. order value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45171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Low-price categories, pre/post bundling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675120" y="5120640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949440" y="500176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growth, pilot vs. control states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6949440" y="529437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fulfilment pilot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263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should stay cautious about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26307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3A468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57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Cautious About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834640"/>
            <a:ext cx="118872" cy="11887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26974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cost/margin data — revenue patterns are visible, but true profitability by category or seller cannot be calculated.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767328"/>
            <a:ext cx="118872" cy="11887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63016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self-selected — only customers who responded to the survey are represented; scores may skew toward strong opinions.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4700016"/>
            <a:ext cx="118872" cy="11887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70432" y="456285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2016–2018 only — findings are directional and should be validated against current data before major investment.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18084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32320" y="2057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46520" y="2788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446520" y="2788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903720" y="27157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analysis on current-year order and delivery data before committing budget.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46520" y="37216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6520" y="3721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364845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carrier-level tracking to identify whether delays trace to sellers or logistics partners.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46520" y="46542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46520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903720" y="458114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test on estimated-delivery-date messaging to confirm the satisfaction driver.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Kumari  |  Data Analyst  |  Meerut Institute of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729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Sonu Kumar</cp:lastModifiedBy>
  <cp:revision>2</cp:revision>
  <dcterms:created xsi:type="dcterms:W3CDTF">2026-09-12T01:12:38Z</dcterms:created>
  <dcterms:modified xsi:type="dcterms:W3CDTF">2026-09-12T01:32:27Z</dcterms:modified>
</cp:coreProperties>
</file>